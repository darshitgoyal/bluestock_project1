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Capstone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7490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an interactive dashboard: ETL, performance analytics,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risk insights across 40 mutual fund schemes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  •   10 FUND HOUSES   •   ~5,000 INVESTORS   •   JAN 2022 –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performance, risk, and investor behaviour data live in 10 disconnected raw files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exists to compare funds, track industry trends, or flag at-risk investors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doesn't scale across 40 schemes and ~33,000 transactions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reproducible pipeline: ingest → clean → analyse → visualise → recommend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40 funds on risk-adjusted performance with a transparent scorecard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dashboard + risk analytics stakeholders can act 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raw source files, Jan 2022 – May 2026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fund_master · nav_history · aum_by_fund_house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monthly_sip_inflows · category_inflows · industry_folio_count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937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scheme_performance · investor_transactions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portfolio_holdings · benchmark_indices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965960" cy="1188720"/>
          </a:xfrm>
          <a:prstGeom prst="roundRect">
            <a:avLst>
              <a:gd name="adj" fmla="val 4615"/>
            </a:avLst>
          </a:prstGeom>
          <a:solidFill>
            <a:srgbClr val="EDEF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CSVs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source files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3063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5AFE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34640" y="2743200"/>
            <a:ext cx="1965960" cy="1188720"/>
          </a:xfrm>
          <a:prstGeom prst="roundRect">
            <a:avLst>
              <a:gd name="adj" fmla="val 4615"/>
            </a:avLst>
          </a:prstGeom>
          <a:solidFill>
            <a:srgbClr val="EDEFF7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validate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3063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5AFE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743200"/>
            <a:ext cx="1965960" cy="1188720"/>
          </a:xfrm>
          <a:prstGeom prst="roundRect">
            <a:avLst>
              <a:gd name="adj" fmla="val 4615"/>
            </a:avLst>
          </a:prstGeom>
          <a:solidFill>
            <a:srgbClr val="EDEFF7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5-table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6600" y="3063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5AFE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06640" y="2743200"/>
            <a:ext cx="1965960" cy="1188720"/>
          </a:xfrm>
          <a:prstGeom prst="roundRect">
            <a:avLst>
              <a:gd name="adj" fmla="val 4615"/>
            </a:avLst>
          </a:prstGeom>
          <a:solidFill>
            <a:srgbClr val="EDEFF7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+ scripts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72600" y="3063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5AFE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92640" y="2743200"/>
            <a:ext cx="1965960" cy="1188720"/>
          </a:xfrm>
          <a:prstGeom prst="roundRect">
            <a:avLst>
              <a:gd name="adj" fmla="val 4615"/>
            </a:avLst>
          </a:prstGeom>
          <a:solidFill>
            <a:srgbClr val="3D5AFE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4 pages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run: python3 run_pipeline.py  —  under 3 seconds, no manual steps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AUM Growth</a:t>
            </a:r>
            <a:endParaRPr lang="en-US" sz="3400" dirty="0"/>
          </a:p>
        </p:txBody>
      </p:sp>
      <p:pic>
        <p:nvPicPr>
          <p:cNvPr id="4" name="Image 0" descr="charts/02_aum_growth_by_fund_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74980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737360"/>
            <a:ext cx="3108960" cy="374904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₹62.7L Cr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6868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industry AUM by Dec 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₹12.5L Cr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— market leader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0" y="4389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nearly doubled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 years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Inflows &amp; Investor Base</a:t>
            </a:r>
            <a:endParaRPr lang="en-US" sz="3400" dirty="0"/>
          </a:p>
        </p:txBody>
      </p:sp>
      <p:pic>
        <p:nvPicPr>
          <p:cNvPr id="4" name="Image 0" descr="charts/05a_age_group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657600" cy="3657600"/>
          </a:xfrm>
          <a:prstGeom prst="rect">
            <a:avLst/>
          </a:prstGeom>
        </p:spPr>
      </p:pic>
      <p:pic>
        <p:nvPicPr>
          <p:cNvPr id="5" name="Image 1" descr="charts/06b_t30_b30_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7360"/>
            <a:ext cx="365760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412480" y="1737360"/>
            <a:ext cx="3200400" cy="36576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859536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₹31,002 Cr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8595360" y="2606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 monthly SIP inflow, Dec 2025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595360" y="3383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595360" y="39776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industry folios, up from 13.26 Cr in 2022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Risk-Adjusted Return Metrics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for all 40 funds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D5AF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2286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1/3/5yr, annualised on a 252-trading-day basis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D5AF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Ratio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2971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(Rp − Rf) / σ(Rp) × √252, Rf = 6.5%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D5AF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Sortino Ratio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36576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downside-deviation-only variant of Sharpe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D5AF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43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/ Beta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43434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 vs Nifty 100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D5AF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9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Drawdown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50292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peak-to-trough decline, with date range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Fund Scorecard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3yr return  +  25% Sharpe  +  20% Alpha  +  15% inverse expense ratio  +  10% inverse max drawdown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0698480" cy="219456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 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Flexicap 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54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40-fund ranking: data/outputs/fund_scorecard.csv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Industry Overview</a:t>
            </a:r>
            <a:endParaRPr lang="en-US" sz="3400" dirty="0"/>
          </a:p>
        </p:txBody>
      </p:sp>
      <p:pic>
        <p:nvPicPr>
          <p:cNvPr id="4" name="Image 0" descr="dashboard/dashboard_page1_indust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737360"/>
            <a:ext cx="96012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Fund Performance</a:t>
            </a:r>
            <a:endParaRPr lang="en-US" sz="3400" dirty="0"/>
          </a:p>
        </p:txBody>
      </p:sp>
      <p:pic>
        <p:nvPicPr>
          <p:cNvPr id="4" name="Image 0" descr="dashboard/dashboard_page2_perform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737360"/>
            <a:ext cx="96012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leads industry AUM at ₹12.5L Cr, nearly double its 2022 level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hit an all-time high of ₹31,002 Cr in December 2025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Fund tops the composite scorecard at 85.88/100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1148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large-cap funds show &gt;0.8 return correlation — limited diversification within category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 (HHI) varies widely across equity funds — useful risk-comparison signal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notebooks, and dashboard: see project README.md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2026-08-12T19:08:59Z</dcterms:created>
  <dcterms:modified xsi:type="dcterms:W3CDTF">2026-08-12T19:08:59Z</dcterms:modified>
</cp:coreProperties>
</file>